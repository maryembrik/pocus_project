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what it is: decision support, not diagnosis. The three numbers signal that the talk carries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 jury member asks why the numbers are not higher, this is the slide to return to: the honest split costs accuracy and buys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failures confuse ADJACENT tiers, and neither confuses low with high. The febrile young adult is over-triaged at 37.9% — the harmless direction, without conviction. The elderly patient under-triaged at 61.9% is the one that matters, and it is why the dangerous-miss rate is reported separately.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selection principle matters more than the pictures. Say that the maps shown are failures, on purpose.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 a question about domain shift here: different scanner, different acquisition convention. The labelling-convention hypothesis was tested and disproved by connected-component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2A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371600"/>
            <a:ext cx="548640" cy="548640"/>
          </a:xfrm>
          <a:prstGeom prst="ellipse">
            <a:avLst/>
          </a:prstGeom>
          <a:solidFill>
            <a:srgbClr val="5B54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148840"/>
            <a:ext cx="10789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POCUS-Emergency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999232"/>
            <a:ext cx="10789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C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Multimodal Assistant for Clinical Ultrasound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FC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Decision Support in Emergencies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3950208"/>
            <a:ext cx="8778240" cy="786384"/>
          </a:xfrm>
          <a:prstGeom prst="roundRect">
            <a:avLst>
              <a:gd name="adj" fmla="val 6977"/>
            </a:avLst>
          </a:prstGeom>
          <a:solidFill>
            <a:srgbClr val="3A3590"/>
          </a:solidFill>
          <a:ln w="12700">
            <a:solidFill>
              <a:srgbClr val="4A45A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23544" y="3950208"/>
            <a:ext cx="8321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multimodal decision-support system combining patient information, three ultrasound modules and a clinical reasoning layer — with an explicit account of what it does not know.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4983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DE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54223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A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models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4983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DE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339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54223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A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4983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DE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54223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A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properties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9893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A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Mariem Brik  ·  ESPRIT / Esprit Tech  ·  Clinical partner: STMU  ·  Supervisor: Ms. Wiem Trabelsi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65760"/>
            <a:ext cx="7955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9264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assessment is multimodal, and the modalities arrive apart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609344"/>
            <a:ext cx="365760" cy="365760"/>
          </a:xfrm>
          <a:prstGeom prst="ellipse">
            <a:avLst/>
          </a:prstGeom>
          <a:solidFill>
            <a:srgbClr val="5B54D6"/>
          </a:solidFill>
          <a:ln w="12700">
            <a:solidFill>
              <a:srgbClr val="5B54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09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216152" y="155448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pressure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16152" y="1828800"/>
            <a:ext cx="6675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are made before all the information is available.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505456"/>
            <a:ext cx="365760" cy="365760"/>
          </a:xfrm>
          <a:prstGeom prst="ellipse">
            <a:avLst/>
          </a:prstGeom>
          <a:solidFill>
            <a:srgbClr val="5B54D6"/>
          </a:solidFill>
          <a:ln w="12700">
            <a:solidFill>
              <a:srgbClr val="5B54D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505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216152" y="2450592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evidence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16152" y="2724912"/>
            <a:ext cx="6675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Vitals, complaint, laboratory values and imaging arrive separately.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3401568"/>
            <a:ext cx="365760" cy="365760"/>
          </a:xfrm>
          <a:prstGeom prst="ellipse">
            <a:avLst/>
          </a:prstGeom>
          <a:solidFill>
            <a:srgbClr val="5B54D6"/>
          </a:solidFill>
          <a:ln w="12700">
            <a:solidFill>
              <a:srgbClr val="5B54D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216152" y="334670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dependence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16152" y="3621024"/>
            <a:ext cx="6675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POCUS adds real information at the bedside — its interpretation varies with the operator.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4297680"/>
            <a:ext cx="365760" cy="365760"/>
          </a:xfrm>
          <a:prstGeom prst="ellipse">
            <a:avLst/>
          </a:prstGeom>
          <a:solidFill>
            <a:srgbClr val="5B54D6"/>
          </a:solidFill>
          <a:ln w="12700">
            <a:solidFill>
              <a:srgbClr val="5B54D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216152" y="4242816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16152" y="4517136"/>
            <a:ext cx="6675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these under time pressure, while tracking what is still unknown, is where error enters.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092440" y="1572768"/>
            <a:ext cx="3383280" cy="2999232"/>
          </a:xfrm>
          <a:prstGeom prst="roundRect">
            <a:avLst>
              <a:gd name="adj" fmla="val 1829"/>
            </a:avLst>
          </a:prstGeom>
          <a:solidFill>
            <a:srgbClr val="EFEEFB"/>
          </a:solidFill>
          <a:ln w="12700">
            <a:solidFill>
              <a:srgbClr val="D9D5F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321040" y="17739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5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321040" y="210312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 combines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imaging with the rest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emergency record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keeping an honest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of its own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reliability.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40233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gap is the subject of this work.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85800" y="4983480"/>
            <a:ext cx="10789920" cy="640080"/>
          </a:xfrm>
          <a:prstGeom prst="roundRect">
            <a:avLst>
              <a:gd name="adj" fmla="val 8571"/>
            </a:avLst>
          </a:prstGeom>
          <a:solidFill>
            <a:srgbClr val="E9F7F3"/>
          </a:solidFill>
          <a:ln w="12700">
            <a:solidFill>
              <a:srgbClr val="A9E2D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41832" y="4983480"/>
            <a:ext cx="10277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 is assistance, not replacement. The physician remains responsible for the clinical decision.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65760"/>
            <a:ext cx="7955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proposed solution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9264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workflow, several sources of evidence, one decision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52578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8C8AB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05256" y="1847088"/>
            <a:ext cx="292608" cy="292608"/>
          </a:xfrm>
          <a:prstGeom prst="ellipse">
            <a:avLst/>
          </a:prstGeom>
          <a:solidFill>
            <a:srgbClr val="5B54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25880" y="1810512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B5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evidence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139696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Triage, three POCUS modules and the clinical record on one screen.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2578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8C8AB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37376" y="1847088"/>
            <a:ext cx="292608" cy="29260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0" y="1810512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uncertainty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858000" y="2139696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 carries its reliability, and absent evidence is labelled absent — never normal.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3218688"/>
            <a:ext cx="52578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8C8AB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05256" y="3419856"/>
            <a:ext cx="292608" cy="292608"/>
          </a:xfrm>
          <a:prstGeom prst="ellipse">
            <a:avLst/>
          </a:prstGeom>
          <a:solidFill>
            <a:srgbClr val="2E2A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325880" y="338328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reasoning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712464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assessment is assembled from enumerated evidence, not narrated freely.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0" y="3218688"/>
            <a:ext cx="52578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8C8AB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37376" y="3419856"/>
            <a:ext cx="292608" cy="292608"/>
          </a:xfrm>
          <a:prstGeom prst="ellipse">
            <a:avLst/>
          </a:prstGeom>
          <a:solidFill>
            <a:srgbClr val="6E4C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0" y="338328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E4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record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3712464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physician keeps their own patients, examinations and images.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85800" y="4937760"/>
            <a:ext cx="10789920" cy="676656"/>
          </a:xfrm>
          <a:prstGeom prst="roundRect">
            <a:avLst>
              <a:gd name="adj" fmla="val 8108"/>
            </a:avLst>
          </a:prstGeom>
          <a:solidFill>
            <a:srgbClr val="F3F1FD"/>
          </a:solidFill>
          <a:ln w="12700">
            <a:solidFill>
              <a:srgbClr val="D9D5F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41832" y="4937760"/>
            <a:ext cx="102778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as a working web platform with accounts, a stored patient history, containerised deployment and an automated test suite.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65760"/>
            <a:ext cx="7955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732520" y="402336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EFEEFB"/>
          </a:solidFill>
          <a:ln w="12700">
            <a:solidFill>
              <a:srgbClr val="D9D5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732520" y="40233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5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 · Modeling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74920" y="1417320"/>
            <a:ext cx="2011680" cy="438912"/>
          </a:xfrm>
          <a:prstGeom prst="roundRect">
            <a:avLst>
              <a:gd name="adj" fmla="val 12500"/>
            </a:avLst>
          </a:prstGeom>
          <a:solidFill>
            <a:srgbClr val="2E2A78"/>
          </a:solidFill>
          <a:ln w="12700">
            <a:solidFill>
              <a:srgbClr val="2E2A7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148072" y="1417320"/>
            <a:ext cx="1865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80760" y="1856232"/>
            <a:ext cx="0" cy="182880"/>
          </a:xfrm>
          <a:prstGeom prst="line">
            <a:avLst/>
          </a:prstGeom>
          <a:noFill/>
          <a:ln w="25400">
            <a:solidFill>
              <a:srgbClr val="5B54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2039112"/>
            <a:ext cx="6675120" cy="0"/>
          </a:xfrm>
          <a:prstGeom prst="line">
            <a:avLst/>
          </a:prstGeom>
          <a:noFill/>
          <a:ln w="25400">
            <a:solidFill>
              <a:srgbClr val="5B54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2039112"/>
            <a:ext cx="0" cy="182880"/>
          </a:xfrm>
          <a:prstGeom prst="line">
            <a:avLst/>
          </a:prstGeom>
          <a:noFill/>
          <a:ln w="25400">
            <a:solidFill>
              <a:srgbClr val="5B54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418320" y="2039112"/>
            <a:ext cx="0" cy="182880"/>
          </a:xfrm>
          <a:prstGeom prst="line">
            <a:avLst/>
          </a:prstGeom>
          <a:noFill/>
          <a:ln w="25400">
            <a:solidFill>
              <a:srgbClr val="5B54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17320" y="2221992"/>
            <a:ext cx="2651760" cy="566928"/>
          </a:xfrm>
          <a:prstGeom prst="roundRect">
            <a:avLst>
              <a:gd name="adj" fmla="val 9677"/>
            </a:avLst>
          </a:prstGeom>
          <a:solidFill>
            <a:srgbClr val="E4E1FA"/>
          </a:solidFill>
          <a:ln w="12700">
            <a:solidFill>
              <a:srgbClr val="E4E1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490472" y="2221992"/>
            <a:ext cx="2505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AGENT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gradient-boosted trees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92440" y="2221992"/>
            <a:ext cx="2651760" cy="566928"/>
          </a:xfrm>
          <a:prstGeom prst="roundRect">
            <a:avLst>
              <a:gd name="adj" fmla="val 9677"/>
            </a:avLst>
          </a:prstGeom>
          <a:solidFill>
            <a:srgbClr val="E4E1FA"/>
          </a:solidFill>
          <a:ln w="12700">
            <a:solidFill>
              <a:srgbClr val="E4E1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65592" y="2221992"/>
            <a:ext cx="2505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ULTRASOUND AGENTS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 models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589520" y="2926080"/>
            <a:ext cx="1115568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0DE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662672" y="2926080"/>
            <a:ext cx="96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multi-label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796528" y="2926080"/>
            <a:ext cx="1115568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0DE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869680" y="2926080"/>
            <a:ext cx="96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0003536" y="2926080"/>
            <a:ext cx="1115568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0DE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076688" y="2926080"/>
            <a:ext cx="96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Gallbladder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0" y="2788920"/>
            <a:ext cx="0" cy="868680"/>
          </a:xfrm>
          <a:prstGeom prst="line">
            <a:avLst/>
          </a:prstGeom>
          <a:noFill/>
          <a:ln w="25400">
            <a:solidFill>
              <a:srgbClr val="5B54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18320" y="3429000"/>
            <a:ext cx="0" cy="228600"/>
          </a:xfrm>
          <a:prstGeom prst="line">
            <a:avLst/>
          </a:prstGeom>
          <a:noFill/>
          <a:ln w="25400">
            <a:solidFill>
              <a:srgbClr val="5B54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0" y="3657600"/>
            <a:ext cx="6675120" cy="0"/>
          </a:xfrm>
          <a:prstGeom prst="line">
            <a:avLst/>
          </a:prstGeom>
          <a:noFill/>
          <a:ln w="25400">
            <a:solidFill>
              <a:srgbClr val="5B54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16752" y="3657600"/>
            <a:ext cx="182880" cy="164592"/>
          </a:xfrm>
          <a:prstGeom prst="downArrow">
            <a:avLst/>
          </a:prstGeom>
          <a:solidFill>
            <a:srgbClr val="5B54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06240" y="3840480"/>
            <a:ext cx="3749040" cy="438912"/>
          </a:xfrm>
          <a:prstGeom prst="roundRect">
            <a:avLst>
              <a:gd name="adj" fmla="val 12500"/>
            </a:avLst>
          </a:prstGeom>
          <a:solidFill>
            <a:srgbClr val="5B54D6"/>
          </a:solidFill>
          <a:ln w="12700">
            <a:solidFill>
              <a:srgbClr val="5B54D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279392" y="3840480"/>
            <a:ext cx="36027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REASONING AGENT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016752" y="4297680"/>
            <a:ext cx="182880" cy="146304"/>
          </a:xfrm>
          <a:prstGeom prst="downArrow">
            <a:avLst/>
          </a:prstGeom>
          <a:solidFill>
            <a:srgbClr val="5B54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06240" y="4462272"/>
            <a:ext cx="3749040" cy="438912"/>
          </a:xfrm>
          <a:prstGeom prst="roundRect">
            <a:avLst>
              <a:gd name="adj" fmla="val 12500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279392" y="4462272"/>
            <a:ext cx="36027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SAFETY LAYER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016752" y="4919472"/>
            <a:ext cx="182880" cy="146304"/>
          </a:xfrm>
          <a:prstGeom prst="downArrow">
            <a:avLst/>
          </a:prstGeom>
          <a:solidFill>
            <a:srgbClr val="5B54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977640" y="5084064"/>
            <a:ext cx="4206240" cy="438912"/>
          </a:xfrm>
          <a:prstGeom prst="roundRect">
            <a:avLst>
              <a:gd name="adj" fmla="val 12500"/>
            </a:avLst>
          </a:prstGeom>
          <a:solidFill>
            <a:srgbClr val="2E2A78"/>
          </a:solidFill>
          <a:ln w="12700">
            <a:solidFill>
              <a:srgbClr val="2E2A7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050792" y="5084064"/>
            <a:ext cx="4059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DECISION SUPPORT   →   PHYSICIAN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85800" y="3840480"/>
            <a:ext cx="3017520" cy="1682496"/>
          </a:xfrm>
          <a:prstGeom prst="roundRect">
            <a:avLst>
              <a:gd name="adj" fmla="val 3261"/>
            </a:avLst>
          </a:prstGeom>
          <a:solidFill>
            <a:srgbClr val="FDF3F2"/>
          </a:solidFill>
          <a:ln w="12700">
            <a:solidFill>
              <a:srgbClr val="F1C9C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6868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1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produce evidence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868680" y="429768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module emits a diagnosis. The assessment is assembled from enumerated findings, each carrying its own reliability.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961120" y="3840480"/>
            <a:ext cx="2514600" cy="1682496"/>
          </a:xfrm>
          <a:prstGeom prst="roundRect">
            <a:avLst>
              <a:gd name="adj" fmla="val 3261"/>
            </a:avLst>
          </a:prstGeom>
          <a:solidFill>
            <a:srgbClr val="E9F7F3"/>
          </a:solidFill>
          <a:ln w="12700">
            <a:solidFill>
              <a:srgbClr val="A9E2D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144000" y="4005072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4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is computed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4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language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4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runs.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4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model fails, the alerts are still correct.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65760"/>
            <a:ext cx="7955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and preparation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9264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independent public sources, prepared under one rule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732520" y="402336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EFEEFB"/>
          </a:solidFill>
          <a:ln w="12700">
            <a:solidFill>
              <a:srgbClr val="D9D5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732520" y="40233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5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 · Phases 2–3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645920"/>
            <a:ext cx="256032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0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8C8AB0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68680" y="17922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5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08483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16,180 encounters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(held-out test)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67004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emergency-department registries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56432" y="1645920"/>
            <a:ext cx="256032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0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8C8AB0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639312" y="17922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5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639312" y="208483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187 clips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165 cases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639312" y="267004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Point-of-care lung ultrasound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7064" y="1645920"/>
            <a:ext cx="256032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0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8C8AB0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409944" y="17922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5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9944" y="208483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patients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(validation)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9944" y="267004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CAMUS, plus an independent external set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97696" y="1645920"/>
            <a:ext cx="256032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0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8C8AB0">
                <a:alpha val="1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9180576" y="17922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5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Gallbladder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180576" y="208483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 cases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180576" y="267004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Abdominal teaching atlas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" y="3611880"/>
            <a:ext cx="2560320" cy="502920"/>
          </a:xfrm>
          <a:prstGeom prst="roundRect">
            <a:avLst>
              <a:gd name="adj" fmla="val 10909"/>
            </a:avLst>
          </a:prstGeom>
          <a:solidFill>
            <a:srgbClr val="EFEEFB"/>
          </a:solidFill>
          <a:ln w="12700">
            <a:solidFill>
              <a:srgbClr val="EFEEF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8952" y="3611880"/>
            <a:ext cx="2414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64408" y="3785616"/>
            <a:ext cx="201168" cy="146304"/>
          </a:xfrm>
          <a:prstGeom prst="rightArrow">
            <a:avLst/>
          </a:prstGeom>
          <a:solidFill>
            <a:srgbClr val="5B54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56432" y="3611880"/>
            <a:ext cx="2560320" cy="502920"/>
          </a:xfrm>
          <a:prstGeom prst="roundRect">
            <a:avLst>
              <a:gd name="adj" fmla="val 10909"/>
            </a:avLst>
          </a:prstGeom>
          <a:solidFill>
            <a:srgbClr val="EFEEFB"/>
          </a:solidFill>
          <a:ln w="12700">
            <a:solidFill>
              <a:srgbClr val="EFEEF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529584" y="3611880"/>
            <a:ext cx="2414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and harmonisation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035040" y="3785616"/>
            <a:ext cx="201168" cy="146304"/>
          </a:xfrm>
          <a:prstGeom prst="rightArrow">
            <a:avLst/>
          </a:prstGeom>
          <a:solidFill>
            <a:srgbClr val="5B54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27064" y="3611880"/>
            <a:ext cx="2560320" cy="502920"/>
          </a:xfrm>
          <a:prstGeom prst="roundRect">
            <a:avLst>
              <a:gd name="adj" fmla="val 10909"/>
            </a:avLst>
          </a:prstGeom>
          <a:solidFill>
            <a:srgbClr val="EFEEFB"/>
          </a:solidFill>
          <a:ln w="12700">
            <a:solidFill>
              <a:srgbClr val="EFEEF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00216" y="3611880"/>
            <a:ext cx="2414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Case-level splitting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805672" y="3785616"/>
            <a:ext cx="201168" cy="146304"/>
          </a:xfrm>
          <a:prstGeom prst="rightArrow">
            <a:avLst/>
          </a:prstGeom>
          <a:solidFill>
            <a:srgbClr val="5B54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997696" y="3611880"/>
            <a:ext cx="2560320" cy="502920"/>
          </a:xfrm>
          <a:prstGeom prst="roundRect">
            <a:avLst>
              <a:gd name="adj" fmla="val 10909"/>
            </a:avLst>
          </a:prstGeom>
          <a:solidFill>
            <a:srgbClr val="E4E1FA"/>
          </a:solidFill>
          <a:ln w="12700">
            <a:solidFill>
              <a:srgbClr val="E4E1F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070848" y="3611880"/>
            <a:ext cx="2414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/ evaluation sets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85800" y="4370832"/>
            <a:ext cx="10789920" cy="676656"/>
          </a:xfrm>
          <a:prstGeom prst="roundRect">
            <a:avLst>
              <a:gd name="adj" fmla="val 8108"/>
            </a:avLst>
          </a:prstGeom>
          <a:solidFill>
            <a:srgbClr val="F3F1FD"/>
          </a:solidFill>
          <a:ln w="12700">
            <a:solidFill>
              <a:srgbClr val="D9D5F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41832" y="4370832"/>
            <a:ext cx="102778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split by patient, never by image — so no model is ever tested on a patient it has already seen. Every reported figure depends on this.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85800" y="5212080"/>
            <a:ext cx="10789920" cy="694944"/>
          </a:xfrm>
          <a:prstGeom prst="roundRect">
            <a:avLst>
              <a:gd name="adj" fmla="val 7895"/>
            </a:avLst>
          </a:prstGeom>
          <a:solidFill>
            <a:srgbClr val="FDF3F2"/>
          </a:solidFill>
          <a:ln w="12700">
            <a:solidFill>
              <a:srgbClr val="F1C9C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41832" y="5212080"/>
            <a:ext cx="102778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counts are small for the imaging modules. That is the principal limitation of this work, and it is stated wherever a figure is reported.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65760"/>
            <a:ext cx="7955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split is by case, not by image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9264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patient appears many times over — counting files would count them as many patients</a:t>
            </a:r>
            <a:endParaRPr lang="en-US" sz="1400" dirty="0"/>
          </a:p>
        </p:txBody>
      </p:sp>
      <p:pic>
        <p:nvPicPr>
          <p:cNvPr id="4" name="Image 0" descr="_docs\report\latex\figures\fig_files_vs_cas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54480"/>
            <a:ext cx="6766560" cy="37216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80960" y="1554480"/>
            <a:ext cx="3794760" cy="3721608"/>
          </a:xfrm>
          <a:prstGeom prst="roundRect">
            <a:avLst>
              <a:gd name="adj" fmla="val 1474"/>
            </a:avLst>
          </a:prstGeom>
          <a:solidFill>
            <a:srgbClr val="EFEEFB"/>
          </a:solidFill>
          <a:ln w="12700">
            <a:solidFill>
              <a:srgbClr val="D9D5F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909560" y="175564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5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ratio means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7909560" y="2084832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gallbladder set holds 10,694 images from 220 patients — on average 48 images of the same person.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909560" y="2880360"/>
            <a:ext cx="3337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those files at random and the same patient lands in both training and test. The model recognises the patient, the score rises, and nothing has been learned about a new one.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7909560" y="411480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in this presentation is computed on splits made by case.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65760"/>
            <a:ext cx="7955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Triage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732520" y="402336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EFEEFB"/>
          </a:solidFill>
          <a:ln w="12700">
            <a:solidFill>
              <a:srgbClr val="D9D5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732520" y="40233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5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342900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0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8C8AB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05256" y="1847088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5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task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905256" y="2157984"/>
            <a:ext cx="29900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the urgency of a patient from information available at the bedside.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70832" y="1691640"/>
            <a:ext cx="342900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0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8C8AB0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590288" y="1847088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5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90288" y="2157984"/>
            <a:ext cx="29900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emergency-department registries. Disposition fields removed after they were found to leak the outcome into the input.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55864" y="1691640"/>
            <a:ext cx="342900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0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8C8AB0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275320" y="1847088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5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275320" y="2157984"/>
            <a:ext cx="29900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Gradient-boosted trees on 21 prepared inputs — 10 entered by the clinician, 11 derived (shock index, pulse pressure, red-flag indicators). Probabilities calibrated.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3840480"/>
            <a:ext cx="10789920" cy="914400"/>
          </a:xfrm>
          <a:prstGeom prst="roundRect">
            <a:avLst>
              <a:gd name="adj" fmla="val 6000"/>
            </a:avLst>
          </a:prstGeom>
          <a:solidFill>
            <a:srgbClr val="EFEEFB"/>
          </a:solidFill>
          <a:ln w="12700">
            <a:solidFill>
              <a:srgbClr val="D9D5F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41832" y="39684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5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941832" y="4224528"/>
            <a:ext cx="10277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suggested urgency tier with its probability — presented to the clinician, who confirms or changes it. The suggestion is never applied on its own.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4983480"/>
            <a:ext cx="10789920" cy="694944"/>
          </a:xfrm>
          <a:prstGeom prst="roundRect">
            <a:avLst>
              <a:gd name="adj" fmla="val 7895"/>
            </a:avLst>
          </a:prstGeom>
          <a:solidFill>
            <a:srgbClr val="F3F1FD"/>
          </a:solidFill>
          <a:ln w="12700">
            <a:solidFill>
              <a:srgbClr val="D9D5F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41832" y="4983480"/>
            <a:ext cx="102778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deployed model was retrained on exactly the fields the interface collects, so its reported accuracy is accuracy a bedside prediction can actually reach.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65760"/>
            <a:ext cx="7955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Triage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9264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set, 16,180 encounters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732520" y="402336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EFEEFB"/>
          </a:solidFill>
          <a:ln w="12700">
            <a:solidFill>
              <a:srgbClr val="D9D5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732520" y="40233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5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 · Evaluation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645920"/>
            <a:ext cx="251460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0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8C8AB0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95528" y="1783080"/>
            <a:ext cx="2295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63.0%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2368296"/>
            <a:ext cx="22951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645920"/>
            <a:ext cx="251460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0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8C8AB0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493008" y="1783080"/>
            <a:ext cx="2295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56.7%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3493008" y="2368296"/>
            <a:ext cx="22951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1645920"/>
            <a:ext cx="251460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0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8C8AB0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190488" y="1783080"/>
            <a:ext cx="2295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77.3%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6190488" y="2368296"/>
            <a:ext cx="22951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High-urgency recall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778240" y="1645920"/>
            <a:ext cx="251460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0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8C8AB0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887968" y="1783080"/>
            <a:ext cx="2295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1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1.36%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8887968" y="2368296"/>
            <a:ext cx="22951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Dangerous miss rate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" y="3090672"/>
            <a:ext cx="10789920" cy="1298448"/>
          </a:xfrm>
          <a:prstGeom prst="roundRect">
            <a:avLst>
              <a:gd name="adj" fmla="val 4225"/>
            </a:avLst>
          </a:prstGeom>
          <a:solidFill>
            <a:srgbClr val="EFEEFB"/>
          </a:solidFill>
          <a:ln w="12700">
            <a:solidFill>
              <a:srgbClr val="D9D5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41832" y="3236976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models, and why the weaker one is deployed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941832" y="3529584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reference model also sees hospital registration fields and reaches 68.0% accuracy. The deployed model uses only what a clinician types at the bedside: 63.0% accuracy, and a LOWER dangerous-miss rate — 1.36% against 1.55%. On the error that matters, the deployable model is the better one.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85800" y="4572000"/>
            <a:ext cx="10789920" cy="777240"/>
          </a:xfrm>
          <a:prstGeom prst="roundRect">
            <a:avLst>
              <a:gd name="adj" fmla="val 7059"/>
            </a:avLst>
          </a:prstGeom>
          <a:solidFill>
            <a:srgbClr val="FDF3F2"/>
          </a:solidFill>
          <a:ln w="12700">
            <a:solidFill>
              <a:srgbClr val="F1C9C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41832" y="4572000"/>
            <a:ext cx="10277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dangerous miss is a genuinely high-acuity patient graded low. These are retrospective figures on registry data: a decision-support suggestion, not a validated triage instrument.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55321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selection: gradient-boosted trees were compared against logistic regression, random forest, a multilayer perceptron and CatBoost on identical features and splits. None beat them — the ceiling is a property of the data.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65760"/>
            <a:ext cx="7955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Triage: a behavioural check on constructed cases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9264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cases written by hand to span the acuity spectrum</a:t>
            </a:r>
            <a:endParaRPr lang="en-US" sz="1400" dirty="0"/>
          </a:p>
        </p:txBody>
      </p:sp>
      <p:pic>
        <p:nvPicPr>
          <p:cNvPr id="4" name="Image 0" descr="_docs\report\latex\figures\fig_triage_san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72768"/>
            <a:ext cx="10789920" cy="184708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32104" y="35844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5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Constructed case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318504" y="35844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5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872984" y="35844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5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9427464" y="358444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5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85800" y="3877056"/>
            <a:ext cx="1078992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0DEF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32104" y="3877056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young adult, minor ankle sprain, walk-in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6318504" y="387705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7872984" y="387705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9427464" y="387705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52.2%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10616184" y="387705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85800" y="4279392"/>
            <a:ext cx="10789920" cy="347472"/>
          </a:xfrm>
          <a:prstGeom prst="roundRect">
            <a:avLst>
              <a:gd name="adj" fmla="val 15789"/>
            </a:avLst>
          </a:prstGeom>
          <a:solidFill>
            <a:srgbClr val="EFEEFB"/>
          </a:solidFill>
          <a:ln w="12700">
            <a:solidFill>
              <a:srgbClr val="E0DEF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2104" y="427939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Middle-aged, moderate abdominal pain, stable vitals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6318504" y="42793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7872984" y="427939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9427464" y="427939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47.8%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10616184" y="427939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85800" y="4681728"/>
            <a:ext cx="1078992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0DEF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32104" y="468172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Elderly, tachycardic, hypotensive, hypoxic, ambulance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6318504" y="46817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7872984" y="46817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9427464" y="468172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83.2%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10616184" y="468172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85800" y="5084064"/>
            <a:ext cx="10789920" cy="347472"/>
          </a:xfrm>
          <a:prstGeom prst="roundRect">
            <a:avLst>
              <a:gd name="adj" fmla="val 15789"/>
            </a:avLst>
          </a:prstGeom>
          <a:solidFill>
            <a:srgbClr val="EFEEFB"/>
          </a:solidFill>
          <a:ln w="12700">
            <a:solidFill>
              <a:srgbClr val="E0DEF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32104" y="5084064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Elderly, ambulance, severe chest pain, tachycardic</a:t>
            </a:r>
            <a:endParaRPr lang="en-US" sz="1150" dirty="0"/>
          </a:p>
        </p:txBody>
      </p:sp>
      <p:sp>
        <p:nvSpPr>
          <p:cNvPr id="29" name="Text 26"/>
          <p:cNvSpPr txBox="1"/>
          <p:nvPr/>
        </p:nvSpPr>
        <p:spPr>
          <a:xfrm>
            <a:off x="6318504" y="508406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7872984" y="508406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50" dirty="0"/>
          </a:p>
        </p:txBody>
      </p:sp>
      <p:sp>
        <p:nvSpPr>
          <p:cNvPr id="31" name="Text 28"/>
          <p:cNvSpPr txBox="1"/>
          <p:nvPr/>
        </p:nvSpPr>
        <p:spPr>
          <a:xfrm>
            <a:off x="9427464" y="508406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61.9%</a:t>
            </a:r>
            <a:endParaRPr lang="en-US" sz="1150" dirty="0"/>
          </a:p>
        </p:txBody>
      </p:sp>
      <p:sp>
        <p:nvSpPr>
          <p:cNvPr id="32" name="Text 29"/>
          <p:cNvSpPr txBox="1"/>
          <p:nvPr/>
        </p:nvSpPr>
        <p:spPr>
          <a:xfrm>
            <a:off x="10616184" y="508406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1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85800" y="5486400"/>
            <a:ext cx="1078992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0DEF0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32104" y="548640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adult, high fever and tachycardic, walk-in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6318504" y="54864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50" dirty="0"/>
          </a:p>
        </p:txBody>
      </p:sp>
      <p:sp>
        <p:nvSpPr>
          <p:cNvPr id="36" name="Text 33"/>
          <p:cNvSpPr txBox="1"/>
          <p:nvPr/>
        </p:nvSpPr>
        <p:spPr>
          <a:xfrm>
            <a:off x="7872984" y="54864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9427464" y="54864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37.9%</a:t>
            </a:r>
            <a:endParaRPr lang="en-US" sz="1150" dirty="0"/>
          </a:p>
        </p:txBody>
      </p:sp>
      <p:sp>
        <p:nvSpPr>
          <p:cNvPr id="38" name="Text 35"/>
          <p:cNvSpPr txBox="1"/>
          <p:nvPr/>
        </p:nvSpPr>
        <p:spPr>
          <a:xfrm>
            <a:off x="10616184" y="548640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1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685800" y="5943600"/>
            <a:ext cx="10789920" cy="603504"/>
          </a:xfrm>
          <a:prstGeom prst="roundRect">
            <a:avLst>
              <a:gd name="adj" fmla="val 9091"/>
            </a:avLst>
          </a:prstGeom>
          <a:solidFill>
            <a:srgbClr val="F3F1FD"/>
          </a:solidFill>
          <a:ln w="12700">
            <a:solidFill>
              <a:srgbClr val="D9D5F5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941832" y="5943600"/>
            <a:ext cx="102778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constructed cases support no statistical claim. The purpose is to see whether the model moves in the direction a clinician would expect — which an aggregate accuracy cannot show.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65760"/>
            <a:ext cx="7955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Lung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732520" y="402336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EFEEFB"/>
          </a:solidFill>
          <a:ln w="12700">
            <a:solidFill>
              <a:srgbClr val="D9D5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732520" y="40233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5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342900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0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8C8AB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05256" y="1847088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5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task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905256" y="2157984"/>
            <a:ext cx="29900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four findings on point-of-care lung ultrasound: B-lines, consolidation, pleural effusion, pleural thickening.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70832" y="1691640"/>
            <a:ext cx="342900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0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8C8AB0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590288" y="1847088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5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90288" y="2157984"/>
            <a:ext cx="29900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187 clips from 165 cases. Frames sampled per clip; clips of one case never split across folds.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55864" y="1691640"/>
            <a:ext cx="342900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0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8C8AB0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275320" y="1847088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5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275320" y="2157984"/>
            <a:ext cx="29900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 backbone with a multi-label head — findings co-occur, so they must not compete for probability mass. Three-fold grouped cross-validation, per-finding thresholds.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3840480"/>
            <a:ext cx="10789920" cy="914400"/>
          </a:xfrm>
          <a:prstGeom prst="roundRect">
            <a:avLst>
              <a:gd name="adj" fmla="val 6000"/>
            </a:avLst>
          </a:prstGeom>
          <a:solidFill>
            <a:srgbClr val="EFEEFB"/>
          </a:solidFill>
          <a:ln w="12700">
            <a:solidFill>
              <a:srgbClr val="D9D5F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41832" y="39684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5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941832" y="4224528"/>
            <a:ext cx="10277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Per-finding detection with a confidence, reduced across frames by median so one blurred frame cannot carry the result.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4983480"/>
            <a:ext cx="10789920" cy="731520"/>
          </a:xfrm>
          <a:prstGeom prst="roundRect">
            <a:avLst>
              <a:gd name="adj" fmla="val 7500"/>
            </a:avLst>
          </a:prstGeom>
          <a:solidFill>
            <a:srgbClr val="FDF3F2"/>
          </a:solidFill>
          <a:ln w="12700">
            <a:solidFill>
              <a:srgbClr val="F1C9C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41832" y="4983480"/>
            <a:ext cx="10277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1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Pneumothorax is deliberately NOT modelled: it is a motion sign, invisible in a single static frame, and the dataset contains no positive cases.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65760"/>
            <a:ext cx="7955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Lung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9264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out-of-fold, 187 clips from 165 cases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732520" y="402336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EFEEFB"/>
          </a:solidFill>
          <a:ln w="12700">
            <a:solidFill>
              <a:srgbClr val="D9D5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732520" y="40233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5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 · Evaluation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50392" y="1645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5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4507992" y="1645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5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519672" y="1645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5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622792" y="1645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5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cases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85800" y="1965960"/>
            <a:ext cx="10058400" cy="429768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2700">
            <a:solidFill>
              <a:srgbClr val="E0DE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0392" y="196596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B-lines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507992" y="1965960"/>
            <a:ext cx="1828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0.830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1965960"/>
            <a:ext cx="1920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84.1%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622792" y="1965960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5800" y="2478024"/>
            <a:ext cx="10058400" cy="429768"/>
          </a:xfrm>
          <a:prstGeom prst="roundRect">
            <a:avLst>
              <a:gd name="adj" fmla="val 12766"/>
            </a:avLst>
          </a:prstGeom>
          <a:solidFill>
            <a:srgbClr val="EFEEFB"/>
          </a:solidFill>
          <a:ln w="12700">
            <a:solidFill>
              <a:srgbClr val="E0DE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0392" y="2478024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Consolidation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507992" y="2478024"/>
            <a:ext cx="1828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0.832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519672" y="2478024"/>
            <a:ext cx="1920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60.0%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622792" y="2478024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85800" y="2990088"/>
            <a:ext cx="10058400" cy="429768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2700">
            <a:solidFill>
              <a:srgbClr val="E0DE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50392" y="2990088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Pleural effusion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507992" y="2990088"/>
            <a:ext cx="1828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0.718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519672" y="2990088"/>
            <a:ext cx="1920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75.0%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8622792" y="2990088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85800" y="3502152"/>
            <a:ext cx="10058400" cy="429768"/>
          </a:xfrm>
          <a:prstGeom prst="roundRect">
            <a:avLst>
              <a:gd name="adj" fmla="val 12766"/>
            </a:avLst>
          </a:prstGeom>
          <a:solidFill>
            <a:srgbClr val="EFEEFB"/>
          </a:solidFill>
          <a:ln w="12700">
            <a:solidFill>
              <a:srgbClr val="E0DE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0392" y="3502152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Pleural thickening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4507992" y="3502152"/>
            <a:ext cx="1828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0.773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519672" y="3502152"/>
            <a:ext cx="1920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65.2%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8622792" y="3502152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85800" y="4041648"/>
            <a:ext cx="3108960" cy="548640"/>
          </a:xfrm>
          <a:prstGeom prst="roundRect">
            <a:avLst>
              <a:gd name="adj" fmla="val 10000"/>
            </a:avLst>
          </a:prstGeom>
          <a:solidFill>
            <a:srgbClr val="E4E1FA"/>
          </a:solidFill>
          <a:ln w="12700">
            <a:solidFill>
              <a:srgbClr val="D9D5F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68680" y="404164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AUROC   0.788</a:t>
            </a:r>
            <a:endParaRPr lang="en-US" sz="1450" dirty="0"/>
          </a:p>
        </p:txBody>
      </p:sp>
      <p:sp>
        <p:nvSpPr>
          <p:cNvPr id="32" name="Text 30"/>
          <p:cNvSpPr txBox="1"/>
          <p:nvPr/>
        </p:nvSpPr>
        <p:spPr>
          <a:xfrm>
            <a:off x="4023360" y="4041648"/>
            <a:ext cx="6720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Pleural effusion rests on 24 positive cases, and per-fold AUROC for B-lines ranges from 0.536 to 0.830. A pooled figure conceals that spread, which is why the spread is reported.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85800" y="4754880"/>
            <a:ext cx="10789920" cy="749808"/>
          </a:xfrm>
          <a:prstGeom prst="roundRect">
            <a:avLst>
              <a:gd name="adj" fmla="val 7317"/>
            </a:avLst>
          </a:prstGeom>
          <a:solidFill>
            <a:srgbClr val="FDF3F2"/>
          </a:solidFill>
          <a:ln w="12700">
            <a:solidFill>
              <a:srgbClr val="F1C9C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41832" y="4754880"/>
            <a:ext cx="102778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1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Pneumothorax is not modelled and therefore cannot be excluded by this system. It is reported as not assessed — never as absent.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685800" y="56692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was not applied to this module: a held-out calibration split would leave about three positive effusion cases, and a curve fitted on three points is not a calibration. The interface states that the confidence is uncalibrated.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65760"/>
            <a:ext cx="7955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lung model attends to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9264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on cases the model got WRONG — a selection of successes would prove nothing</a:t>
            </a:r>
            <a:endParaRPr lang="en-US" sz="1400" dirty="0"/>
          </a:p>
        </p:txBody>
      </p:sp>
      <p:pic>
        <p:nvPicPr>
          <p:cNvPr id="4" name="Image 0" descr="_docs\report\latex\figures\fig_lung_gradc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72768"/>
            <a:ext cx="7315200" cy="3703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572768"/>
            <a:ext cx="3246120" cy="3703320"/>
          </a:xfrm>
          <a:prstGeom prst="roundRect">
            <a:avLst>
              <a:gd name="adj" fmla="val 1690"/>
            </a:avLst>
          </a:prstGeom>
          <a:solidFill>
            <a:srgbClr val="EFEEFB"/>
          </a:solidFill>
          <a:ln w="12700">
            <a:solidFill>
              <a:srgbClr val="D9D5F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458200" y="1773936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5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failures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8458200" y="2103120"/>
            <a:ext cx="2788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viewer who already knows where the pathology lies will read any attention map as pointing at it. Maps of correct predictions are therefore not evidence.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8458200" y="306324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here are cases the model misclassified, so attention on a correct and an incorrect prediction can be compared. That comparison is the only one from which anything follows without expert annotation.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8458200" y="461772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statistics — centroid spread, area above half-maximum, centre-bias — were computed over the full sets.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65760"/>
            <a:ext cx="7955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Heart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732520" y="402336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EFEEFB"/>
          </a:solidFill>
          <a:ln w="12700">
            <a:solidFill>
              <a:srgbClr val="D9D5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732520" y="40233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5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342900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0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8C8AB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05256" y="1847088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5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task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905256" y="2157984"/>
            <a:ext cx="29900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the left ventricle and derive an ejection-fraction band from the segmentation.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70832" y="1691640"/>
            <a:ext cx="342900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0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8C8AB0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590288" y="1847088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5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90288" y="2157984"/>
            <a:ext cx="29900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CAMUS, 100 validation patients, plus an independent external collection used for validation only and never for training.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55864" y="1691640"/>
            <a:ext cx="342900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0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8C8AB0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275320" y="1847088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5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275320" y="2157984"/>
            <a:ext cx="29900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with an EfficientNet-B0 encoder, four output classes. Ejection fraction computed from end-diastolic and end-systolic areas, with a geometric volume correction.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3840480"/>
            <a:ext cx="10789920" cy="914400"/>
          </a:xfrm>
          <a:prstGeom prst="roundRect">
            <a:avLst>
              <a:gd name="adj" fmla="val 6000"/>
            </a:avLst>
          </a:prstGeom>
          <a:solidFill>
            <a:srgbClr val="EFEEFB"/>
          </a:solidFill>
          <a:ln w="12700">
            <a:solidFill>
              <a:srgbClr val="D9D5F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41832" y="39684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5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941832" y="4224528"/>
            <a:ext cx="10277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Left-ventricle segmentation and an ejection-fraction band — severe, reduced or normal — with the value flagged when it falls close to a cutoff.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4983480"/>
            <a:ext cx="10789920" cy="694944"/>
          </a:xfrm>
          <a:prstGeom prst="roundRect">
            <a:avLst>
              <a:gd name="adj" fmla="val 7895"/>
            </a:avLst>
          </a:prstGeom>
          <a:solidFill>
            <a:srgbClr val="F3F1FD"/>
          </a:solidFill>
          <a:ln w="12700">
            <a:solidFill>
              <a:srgbClr val="D9D5F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41832" y="4983480"/>
            <a:ext cx="102778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quality and clinical output are reported separately. The band is what a clinician acts on, so the band is the module’s result.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65760"/>
            <a:ext cx="7955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Heart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9264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is strong; the derived clinical band is weaker, and that is the figure reported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732520" y="402336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EFEEFB"/>
          </a:solidFill>
          <a:ln w="12700">
            <a:solidFill>
              <a:srgbClr val="D9D5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732520" y="40233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5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 · Evaluation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645920"/>
            <a:ext cx="251460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0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8C8AB0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95528" y="1783080"/>
            <a:ext cx="2295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0.928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2368296"/>
            <a:ext cx="22951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 Dice, in-domain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(nnU-Net: 0.93)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645920"/>
            <a:ext cx="251460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0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8C8AB0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493008" y="1783080"/>
            <a:ext cx="2295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A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0.534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3493008" y="2368296"/>
            <a:ext cx="22951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 Dice, external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1645920"/>
            <a:ext cx="251460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0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8C8AB0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190488" y="1783080"/>
            <a:ext cx="2295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63.4%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6190488" y="2368296"/>
            <a:ext cx="22951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EF-band balanced acc.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(chance 33.3%)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778240" y="1645920"/>
            <a:ext cx="251460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0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8C8AB0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887968" y="1783080"/>
            <a:ext cx="2295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 pp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8887968" y="2368296"/>
            <a:ext cx="22951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mean absolute error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(was 12.2 pp)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" y="3108960"/>
            <a:ext cx="10789920" cy="914400"/>
          </a:xfrm>
          <a:prstGeom prst="roundRect">
            <a:avLst>
              <a:gd name="adj" fmla="val 6000"/>
            </a:avLst>
          </a:prstGeom>
          <a:solidFill>
            <a:srgbClr val="EFEEFB"/>
          </a:solidFill>
          <a:ln w="12700">
            <a:solidFill>
              <a:srgbClr val="D9D5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41832" y="3108960"/>
            <a:ext cx="10277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Ejection fraction here is a geometric estimate derived from segmentation — a proxy, not a definitive echocardiographic measurement. Volume correction halved its error.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85800" y="4206240"/>
            <a:ext cx="10789920" cy="1234440"/>
          </a:xfrm>
          <a:prstGeom prst="roundRect">
            <a:avLst>
              <a:gd name="adj" fmla="val 4444"/>
            </a:avLst>
          </a:prstGeom>
          <a:solidFill>
            <a:srgbClr val="FFF7E8"/>
          </a:solidFill>
          <a:ln w="12700">
            <a:solidFill>
              <a:srgbClr val="EBCF9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41832" y="435254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near a band boundary are flagged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941832" y="4645152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6.9-point error is enough to move a patient across a cutoff. Where an estimate falls within that margin of a threshold, the system states the value could lie on either side. The margin is the module’s own measured error, not a round number chosen for convenience.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55778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external drop was first attributed to a labelling-convention mismatch. Connected-component analysis over the full external set disproved that hypothesis, and the reversal is reported rather than dropped.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65760"/>
            <a:ext cx="7955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cardiac model fails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9264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frames from the external collection: the image, the reference contour, and what the model produced</a:t>
            </a:r>
            <a:endParaRPr lang="en-US" sz="1400" dirty="0"/>
          </a:p>
        </p:txBody>
      </p:sp>
      <p:pic>
        <p:nvPicPr>
          <p:cNvPr id="4" name="Image 0" descr="_docs\report\latex\figures\fig_cardiac_external_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72768"/>
            <a:ext cx="6675120" cy="40416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89520" y="1572768"/>
            <a:ext cx="3886200" cy="4041648"/>
          </a:xfrm>
          <a:prstGeom prst="roundRect">
            <a:avLst>
              <a:gd name="adj" fmla="val 1412"/>
            </a:avLst>
          </a:prstGeom>
          <a:solidFill>
            <a:srgbClr val="EFEEFB"/>
          </a:solidFill>
          <a:ln w="12700">
            <a:solidFill>
              <a:srgbClr val="D9D5F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818120" y="1773936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5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consistent failure, not a random one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7818120" y="2304288"/>
            <a:ext cx="342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predicted region is systematically SMALLER than the reference, and loses the apex. It is not noise: the model finds the ventricle and under-segments it.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818120" y="3218688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on these frames runs 0.49 to 0.66, against 0.928 in-domain. Under-segmenting the ventricle biases the derived ejection fraction, which is why the band and not the Dice is reported as the module’s clinical result.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7818120" y="484632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the failure is the point: an external gap named but never displayed is a gap a reader cannot judge.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65760"/>
            <a:ext cx="7955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Gallbladder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732520" y="402336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EFEEFB"/>
          </a:solidFill>
          <a:ln w="12700">
            <a:solidFill>
              <a:srgbClr val="D9D5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732520" y="40233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5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342900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0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8C8AB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05256" y="1847088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5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task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905256" y="2157984"/>
            <a:ext cx="29900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principal abnormality in a gallbladder study, among five reported groups.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70832" y="1691640"/>
            <a:ext cx="342900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0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8C8AB0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590288" y="1847088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5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90288" y="2157984"/>
            <a:ext cx="29900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 cases from an abdominal teaching atlas. One class was excluded after per-case inspection showed its contents did not match its label.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55864" y="1691640"/>
            <a:ext cx="342900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0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8C8AB0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275320" y="1847088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5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275320" y="2157984"/>
            <a:ext cx="29900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 trained on eight fine-grained classes, reported as five by summing group probabilities. Temperature scaling for calibration.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3840480"/>
            <a:ext cx="10789920" cy="914400"/>
          </a:xfrm>
          <a:prstGeom prst="roundRect">
            <a:avLst>
              <a:gd name="adj" fmla="val 6000"/>
            </a:avLst>
          </a:prstGeom>
          <a:solidFill>
            <a:srgbClr val="EFEEFB"/>
          </a:solidFill>
          <a:ln w="12700">
            <a:solidFill>
              <a:srgbClr val="D9D5F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41832" y="39684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5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941832" y="4224528"/>
            <a:ext cx="10277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reported finding with a calibrated confidence. Groups are mutually exclusive: classes considered and rejected are not passed on as evidence.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4983480"/>
            <a:ext cx="10789920" cy="731520"/>
          </a:xfrm>
          <a:prstGeom prst="roundRect">
            <a:avLst>
              <a:gd name="adj" fmla="val 7500"/>
            </a:avLst>
          </a:prstGeom>
          <a:solidFill>
            <a:srgbClr val="FDF3F2"/>
          </a:solidFill>
          <a:ln w="12700">
            <a:solidFill>
              <a:srgbClr val="F1C9C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41832" y="4983480"/>
            <a:ext cx="10277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1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atlas contains no healthy class. This module can say which abnormality is most consistent with the image — it cannot say a gallbladder is normal.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65760"/>
            <a:ext cx="7955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Gallbladder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9264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reported groups, held-out evaluation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732520" y="402336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EFEEFB"/>
          </a:solidFill>
          <a:ln w="12700">
            <a:solidFill>
              <a:srgbClr val="D9D5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732520" y="40233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5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 · Evaluation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645920"/>
            <a:ext cx="329184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0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8C8AB0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95528" y="1783080"/>
            <a:ext cx="3072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59.7%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2368296"/>
            <a:ext cx="307238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accuracy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(chance 20.0%)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06240" y="1645920"/>
            <a:ext cx="329184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0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8C8AB0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315968" y="1783080"/>
            <a:ext cx="3072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0.024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4315968" y="2368296"/>
            <a:ext cx="307238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error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temperature scaling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26680" y="1645920"/>
            <a:ext cx="329184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0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8C8AB0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836408" y="1783080"/>
            <a:ext cx="3072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7836408" y="2368296"/>
            <a:ext cx="307238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3108960"/>
            <a:ext cx="10789920" cy="1188720"/>
          </a:xfrm>
          <a:prstGeom prst="roundRect">
            <a:avLst>
              <a:gd name="adj" fmla="val 4615"/>
            </a:avLst>
          </a:prstGeom>
          <a:solidFill>
            <a:srgbClr val="EFEEFB"/>
          </a:solidFill>
          <a:ln w="12700">
            <a:solidFill>
              <a:srgbClr val="D9D5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41832" y="3246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taxonomy matters more than the accuracy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941832" y="3538728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 of the model’s confusions cross a reported group boundary. A coarser three-category grouping was tested and rejected on that evidence: if the groups captured a distinction the model could see, its confusions would concentrate within them. They do not.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5800" y="4480560"/>
            <a:ext cx="10789920" cy="777240"/>
          </a:xfrm>
          <a:prstGeom prst="roundRect">
            <a:avLst>
              <a:gd name="adj" fmla="val 7059"/>
            </a:avLst>
          </a:prstGeom>
          <a:solidFill>
            <a:srgbClr val="FDF3F2"/>
          </a:solidFill>
          <a:ln w="12700">
            <a:solidFill>
              <a:srgbClr val="F1C9C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41832" y="4480560"/>
            <a:ext cx="10277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1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healthy class. The model reports which abnormality is most consistent with the image; it cannot report the absence of disease, and the interface says so beside every result.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54864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ninth folder present in the original release was excluded after sampling one frame per case across the whole set. A first inspection of a handful of frames had judged it consistent — frames from one case are not a sample of a class.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65760"/>
            <a:ext cx="7955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Clinical Reasoning Agent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9264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branches are combined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732520" y="402336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EFEEFB"/>
          </a:solidFill>
          <a:ln w="12700">
            <a:solidFill>
              <a:srgbClr val="D9D5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732520" y="40233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5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627632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EFEEFB"/>
          </a:solidFill>
          <a:ln w="12700">
            <a:solidFill>
              <a:srgbClr val="EFEE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58952" y="1627632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evidence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28800" y="2103120"/>
            <a:ext cx="182880" cy="164592"/>
          </a:xfrm>
          <a:prstGeom prst="downArrow">
            <a:avLst/>
          </a:prstGeom>
          <a:solidFill>
            <a:srgbClr val="5B54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1627632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EFEEFB"/>
          </a:solidFill>
          <a:ln w="12700">
            <a:solidFill>
              <a:srgbClr val="EFEEF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6432" y="1627632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Ultrasound evidence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26280" y="2103120"/>
            <a:ext cx="182880" cy="164592"/>
          </a:xfrm>
          <a:prstGeom prst="downArrow">
            <a:avLst/>
          </a:prstGeom>
          <a:solidFill>
            <a:srgbClr val="5B54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80760" y="1627632"/>
            <a:ext cx="2468880" cy="457200"/>
          </a:xfrm>
          <a:prstGeom prst="roundRect">
            <a:avLst>
              <a:gd name="adj" fmla="val 12000"/>
            </a:avLst>
          </a:prstGeom>
          <a:solidFill>
            <a:srgbClr val="EFEEFB"/>
          </a:solidFill>
          <a:ln w="12700">
            <a:solidFill>
              <a:srgbClr val="EFEE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53912" y="1627632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context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223760" y="2103120"/>
            <a:ext cx="182880" cy="164592"/>
          </a:xfrm>
          <a:prstGeom prst="downArrow">
            <a:avLst/>
          </a:prstGeom>
          <a:solidFill>
            <a:srgbClr val="5B54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2304288"/>
            <a:ext cx="7863840" cy="457200"/>
          </a:xfrm>
          <a:prstGeom prst="roundRect">
            <a:avLst>
              <a:gd name="adj" fmla="val 12000"/>
            </a:avLst>
          </a:prstGeom>
          <a:solidFill>
            <a:srgbClr val="5B54D6"/>
          </a:solidFill>
          <a:ln w="12700">
            <a:solidFill>
              <a:srgbClr val="5B54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" y="2304288"/>
            <a:ext cx="7717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REASONING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29260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interpreting anything, it establishes: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04088" y="3273552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04088" y="3273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1106424" y="3255264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important findings missing?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04088" y="3703320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04088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1106424" y="3685032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assessments agree with one another?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04088" y="4133088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04088" y="4133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1106424" y="4114800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evidence sufficient to support a conclusion?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04088" y="4562856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04088" y="45628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1106424" y="4544568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declared limits of what was measured?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04088" y="4992624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04088" y="49926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106424" y="4974336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further assessment needed before deciding?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732520" y="1627632"/>
            <a:ext cx="2743200" cy="37947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0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8C8AB0">
                <a:alpha val="18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8942832" y="1792224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5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physician receives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8942832" y="2359152"/>
            <a:ext cx="2331720" cy="548640"/>
          </a:xfrm>
          <a:prstGeom prst="roundRect">
            <a:avLst>
              <a:gd name="adj" fmla="val 10000"/>
            </a:avLst>
          </a:prstGeom>
          <a:solidFill>
            <a:srgbClr val="EFEEFB"/>
          </a:solidFill>
          <a:ln w="12700">
            <a:solidFill>
              <a:srgbClr val="EFEEF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015984" y="2359152"/>
            <a:ext cx="2185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possible interpretation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942832" y="3090672"/>
            <a:ext cx="2331720" cy="548640"/>
          </a:xfrm>
          <a:prstGeom prst="roundRect">
            <a:avLst>
              <a:gd name="adj" fmla="val 10000"/>
            </a:avLst>
          </a:prstGeom>
          <a:solidFill>
            <a:srgbClr val="EFEEFB"/>
          </a:solidFill>
          <a:ln w="12700">
            <a:solidFill>
              <a:srgbClr val="EFEEF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015984" y="3090672"/>
            <a:ext cx="2185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and limitations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942832" y="3822192"/>
            <a:ext cx="2331720" cy="548640"/>
          </a:xfrm>
          <a:prstGeom prst="roundRect">
            <a:avLst>
              <a:gd name="adj" fmla="val 10000"/>
            </a:avLst>
          </a:prstGeom>
          <a:solidFill>
            <a:srgbClr val="EFEEFB"/>
          </a:solidFill>
          <a:ln w="12700">
            <a:solidFill>
              <a:srgbClr val="EFEEF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015984" y="3822192"/>
            <a:ext cx="2185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evidence is missing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8942832" y="4553712"/>
            <a:ext cx="2331720" cy="548640"/>
          </a:xfrm>
          <a:prstGeom prst="roundRect">
            <a:avLst>
              <a:gd name="adj" fmla="val 10000"/>
            </a:avLst>
          </a:prstGeom>
          <a:solidFill>
            <a:srgbClr val="EFEEFB"/>
          </a:solidFill>
          <a:ln w="12700">
            <a:solidFill>
              <a:srgbClr val="EFEEF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015984" y="4553712"/>
            <a:ext cx="2185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clarify the case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85800" y="5577840"/>
            <a:ext cx="10789920" cy="640080"/>
          </a:xfrm>
          <a:prstGeom prst="roundRect">
            <a:avLst>
              <a:gd name="adj" fmla="val 8571"/>
            </a:avLst>
          </a:prstGeom>
          <a:solidFill>
            <a:srgbClr val="F3F1FD"/>
          </a:solidFill>
          <a:ln w="12700">
            <a:solidFill>
              <a:srgbClr val="D9D5F5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41832" y="5577840"/>
            <a:ext cx="10277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is enumerated and cited by identifier, so the reasoning layer cannot assert a finding that no module produced.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65760"/>
            <a:ext cx="7955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645920"/>
            <a:ext cx="4023360" cy="475488"/>
          </a:xfrm>
          <a:prstGeom prst="roundRect">
            <a:avLst>
              <a:gd name="adj" fmla="val 11538"/>
            </a:avLst>
          </a:prstGeom>
          <a:solidFill>
            <a:srgbClr val="EFEEFB"/>
          </a:solidFill>
          <a:ln w="12700">
            <a:solidFill>
              <a:srgbClr val="EFEE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58952" y="1645920"/>
            <a:ext cx="3877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evidence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606040" y="2139696"/>
            <a:ext cx="182880" cy="146304"/>
          </a:xfrm>
          <a:prstGeom prst="downArrow">
            <a:avLst/>
          </a:prstGeom>
          <a:solidFill>
            <a:srgbClr val="5B54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304288"/>
            <a:ext cx="4023360" cy="475488"/>
          </a:xfrm>
          <a:prstGeom prst="roundRect">
            <a:avLst>
              <a:gd name="adj" fmla="val 11538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58952" y="2304288"/>
            <a:ext cx="3877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safety checks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606040" y="2798064"/>
            <a:ext cx="182880" cy="146304"/>
          </a:xfrm>
          <a:prstGeom prst="downArrow">
            <a:avLst/>
          </a:prstGeom>
          <a:solidFill>
            <a:srgbClr val="5B54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962656"/>
            <a:ext cx="4023360" cy="475488"/>
          </a:xfrm>
          <a:prstGeom prst="roundRect">
            <a:avLst>
              <a:gd name="adj" fmla="val 11538"/>
            </a:avLst>
          </a:prstGeom>
          <a:solidFill>
            <a:srgbClr val="EFEEFB"/>
          </a:solidFill>
          <a:ln w="12700">
            <a:solidFill>
              <a:srgbClr val="EFEEF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58952" y="2962656"/>
            <a:ext cx="3877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Language-model explanation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606040" y="3456432"/>
            <a:ext cx="182880" cy="146304"/>
          </a:xfrm>
          <a:prstGeom prst="downArrow">
            <a:avLst/>
          </a:prstGeom>
          <a:solidFill>
            <a:srgbClr val="5B54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621024"/>
            <a:ext cx="4023360" cy="475488"/>
          </a:xfrm>
          <a:prstGeom prst="roundRect">
            <a:avLst>
              <a:gd name="adj" fmla="val 11538"/>
            </a:avLst>
          </a:prstGeom>
          <a:solidFill>
            <a:srgbClr val="EFEEFB"/>
          </a:solidFill>
          <a:ln w="12700">
            <a:solidFill>
              <a:srgbClr val="EFEE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8952" y="3621024"/>
            <a:ext cx="3877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of the output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606040" y="4114800"/>
            <a:ext cx="182880" cy="146304"/>
          </a:xfrm>
          <a:prstGeom prst="downArrow">
            <a:avLst/>
          </a:prstGeom>
          <a:solidFill>
            <a:srgbClr val="5B54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4279392"/>
            <a:ext cx="4023360" cy="475488"/>
          </a:xfrm>
          <a:prstGeom prst="roundRect">
            <a:avLst>
              <a:gd name="adj" fmla="val 11538"/>
            </a:avLst>
          </a:prstGeom>
          <a:solidFill>
            <a:srgbClr val="2E2A78"/>
          </a:solidFill>
          <a:ln w="12700">
            <a:solidFill>
              <a:srgbClr val="2E2A7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" y="4279392"/>
            <a:ext cx="3877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Physician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983480" y="210312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E9F7F3"/>
          </a:solidFill>
          <a:ln w="12700">
            <a:solidFill>
              <a:srgbClr val="A9E2D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166360" y="2231136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4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before any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4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runs: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4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evidence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4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Disagreement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4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4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955280" y="16459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5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states a finding can occupy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955280" y="1993392"/>
            <a:ext cx="35204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DE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19872" y="2176272"/>
            <a:ext cx="182880" cy="1828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412480" y="20299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412480" y="226771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positive finding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955280" y="2651760"/>
            <a:ext cx="35204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DE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19872" y="2834640"/>
            <a:ext cx="182880" cy="182880"/>
          </a:xfrm>
          <a:prstGeom prst="ellipse">
            <a:avLst/>
          </a:prstGeom>
          <a:solidFill>
            <a:srgbClr val="9A620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412480" y="268833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unreliable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412480" y="292608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detected, weak evidence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955280" y="3310128"/>
            <a:ext cx="35204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DE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19872" y="3493008"/>
            <a:ext cx="182880" cy="182880"/>
          </a:xfrm>
          <a:prstGeom prst="ellipse">
            <a:avLst/>
          </a:prstGeom>
          <a:solidFill>
            <a:srgbClr val="2E2A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412480" y="33467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screened, not detected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412480" y="358444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looked for, not found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955280" y="3968496"/>
            <a:ext cx="35204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DE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19872" y="4151376"/>
            <a:ext cx="182880" cy="182880"/>
          </a:xfrm>
          <a:prstGeom prst="ellipse">
            <a:avLst/>
          </a:prstGeom>
          <a:solidFill>
            <a:srgbClr val="C132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412480" y="40050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1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assessed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8412480" y="424281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 covers this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85800" y="5029200"/>
            <a:ext cx="10789920" cy="676656"/>
          </a:xfrm>
          <a:prstGeom prst="roundRect">
            <a:avLst>
              <a:gd name="adj" fmla="val 8108"/>
            </a:avLst>
          </a:prstGeom>
          <a:solidFill>
            <a:srgbClr val="E9F7F3"/>
          </a:solidFill>
          <a:ln w="12700">
            <a:solidFill>
              <a:srgbClr val="A9E2D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41832" y="5029200"/>
            <a:ext cx="102778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of evidence is never recorded as evidence of absence. This is enforced by the data structure, not by a convention someone must remember.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65760"/>
            <a:ext cx="7955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validation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9264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verified, and how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732520" y="402336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EFEEFB"/>
          </a:solidFill>
          <a:ln w="12700">
            <a:solidFill>
              <a:srgbClr val="D9D5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732520" y="40233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5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 · Evaluation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645920"/>
            <a:ext cx="251460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0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8C8AB0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95528" y="1783080"/>
            <a:ext cx="2295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339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2368296"/>
            <a:ext cx="22951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passing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645920"/>
            <a:ext cx="251460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0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8C8AB0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493008" y="1783080"/>
            <a:ext cx="2295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3493008" y="2368296"/>
            <a:ext cx="22951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properties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reported separately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1645920"/>
            <a:ext cx="251460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0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8C8AB0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190488" y="1783080"/>
            <a:ext cx="2295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6190488" y="2368296"/>
            <a:ext cx="22951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checks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10 full cases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778240" y="1645920"/>
            <a:ext cx="251460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0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8C8AB0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887968" y="1783080"/>
            <a:ext cx="2295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8887968" y="2368296"/>
            <a:ext cx="22951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checks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lint, security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" y="3108960"/>
            <a:ext cx="525780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0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8C8AB0">
                <a:alpha val="1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923544" y="32735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by property, not by count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923544" y="3602736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detection — 14 / 14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 is not normal — 24 / 24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rejection — 25 / 25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— 17 / 17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923544" y="482803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"339 passed" is not evidence. "Conflict detection 14/14" is.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46520" y="3108960"/>
            <a:ext cx="502920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0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8C8AB0">
                <a:alpha val="1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684264" y="32735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model metrics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6684264" y="3602736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Generalisation tested on an independent set where one existed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measured per module, and refused where data was insufficient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encounters run end to end, intake through report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real studies inspected by hand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5800" y="5413248"/>
            <a:ext cx="10789920" cy="640080"/>
          </a:xfrm>
          <a:prstGeom prst="roundRect">
            <a:avLst>
              <a:gd name="adj" fmla="val 8571"/>
            </a:avLst>
          </a:prstGeom>
          <a:solidFill>
            <a:srgbClr val="F3F1FD"/>
          </a:solidFill>
          <a:ln w="12700">
            <a:solidFill>
              <a:srgbClr val="D9D5F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41832" y="5413248"/>
            <a:ext cx="10277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well-motivated changes were tested and rejected on measurement rather than preference — each reported with its outcome.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65760"/>
            <a:ext cx="7955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deployment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9264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running application, not a notebook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732520" y="402336"/>
            <a:ext cx="2743200" cy="329184"/>
          </a:xfrm>
          <a:prstGeom prst="roundRect">
            <a:avLst>
              <a:gd name="adj" fmla="val 50000"/>
            </a:avLst>
          </a:prstGeom>
          <a:solidFill>
            <a:srgbClr val="EFEEFB"/>
          </a:solidFill>
          <a:ln w="12700">
            <a:solidFill>
              <a:srgbClr val="D9D5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732520" y="40233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5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 · Deployment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1645920"/>
            <a:ext cx="525780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0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8C8AB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05256" y="1883664"/>
            <a:ext cx="347472" cy="347472"/>
          </a:xfrm>
          <a:prstGeom prst="ellipse">
            <a:avLst/>
          </a:prstGeom>
          <a:solidFill>
            <a:srgbClr val="5B54D6"/>
          </a:solidFill>
          <a:ln w="12700">
            <a:solidFill>
              <a:srgbClr val="5B54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05256" y="18836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362456" y="181051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362456" y="210312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and uvicorn serving a generated clinician interface in English and French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645920"/>
            <a:ext cx="525780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0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8C8AB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37376" y="1883664"/>
            <a:ext cx="347472" cy="347472"/>
          </a:xfrm>
          <a:prstGeom prst="ellipse">
            <a:avLst/>
          </a:prstGeom>
          <a:solidFill>
            <a:srgbClr val="5B54D6"/>
          </a:solidFill>
          <a:ln w="12700">
            <a:solidFill>
              <a:srgbClr val="5B54D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37376" y="18836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894576" y="181051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Containerised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894576" y="210312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image running as a non-root user, with a health check that reports whether each model actually loaded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3108960"/>
            <a:ext cx="525780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0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8C8AB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05256" y="3346704"/>
            <a:ext cx="347472" cy="347472"/>
          </a:xfrm>
          <a:prstGeom prst="ellipse">
            <a:avLst/>
          </a:prstGeom>
          <a:solidFill>
            <a:srgbClr val="5B54D6"/>
          </a:solidFill>
          <a:ln w="12700">
            <a:solidFill>
              <a:srgbClr val="5B54D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05256" y="3346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362456" y="327355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and storage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362456" y="356616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Per-physician accounts, hashed passwords, server-side sessions, and a stored patient record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3108960"/>
            <a:ext cx="525780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0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8C8AB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37376" y="3346704"/>
            <a:ext cx="347472" cy="347472"/>
          </a:xfrm>
          <a:prstGeom prst="ellipse">
            <a:avLst/>
          </a:prstGeom>
          <a:solidFill>
            <a:srgbClr val="5B54D6"/>
          </a:solidFill>
          <a:ln w="12700">
            <a:solidFill>
              <a:srgbClr val="5B54D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37376" y="3346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894576" y="327355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pipeline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894576" y="356616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check runs on each push: tests, regression, lint, code and dependency security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85800" y="4617720"/>
            <a:ext cx="10789920" cy="914400"/>
          </a:xfrm>
          <a:prstGeom prst="roundRect">
            <a:avLst>
              <a:gd name="adj" fmla="val 6000"/>
            </a:avLst>
          </a:prstGeom>
          <a:solidFill>
            <a:srgbClr val="FFF7E8"/>
          </a:solidFill>
          <a:ln w="12700">
            <a:solidFill>
              <a:srgbClr val="EBCF9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41832" y="4617720"/>
            <a:ext cx="10277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deployment and clinical deployment are different claims. The first is demonstrated here; the second — installation in a hospital and prospective validation — has not been attempted.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65760"/>
            <a:ext cx="7955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clinician interface</a:t>
            </a:r>
            <a:endParaRPr lang="en-US" sz="3000" dirty="0"/>
          </a:p>
        </p:txBody>
      </p:sp>
      <p:pic>
        <p:nvPicPr>
          <p:cNvPr id="3" name="Image 0" descr="_docs\report\latex\figures\fig_ui_assess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7635240" cy="42976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549640" y="1463040"/>
            <a:ext cx="2926080" cy="4297680"/>
          </a:xfrm>
          <a:prstGeom prst="roundRect">
            <a:avLst>
              <a:gd name="adj" fmla="val 1875"/>
            </a:avLst>
          </a:prstGeom>
          <a:solidFill>
            <a:srgbClr val="EFEEFB"/>
          </a:solidFill>
          <a:ln w="12700">
            <a:solidFill>
              <a:srgbClr val="D9D5F5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759952" y="16459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5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one screen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8759952" y="2011680"/>
            <a:ext cx="2514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information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suggestion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Ultrasound findings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not measured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and limitations</a:t>
            </a:r>
            <a:endParaRPr lang="en-US" sz="1200" dirty="0"/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clarify the case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759952" y="434340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value on the screen is computed by the pipeline. Where the system has nothing real to put in a slot, the slot says so.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5897880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Served in English and in French — the French text is composed from the same computed fields, so a French screen cannot state something the English record does not.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65760"/>
            <a:ext cx="7955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could bring to an emergency department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645920"/>
            <a:ext cx="5257800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E0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8C8AB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05256" y="1847088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07592" y="1792224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evidence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1307592" y="2084832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Triage, imaging and laboratory values assembled in one place rather than read separately.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257800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E0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8C8AB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37376" y="1847088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39712" y="1792224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access to findings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839712" y="2084832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POCUS study is read and filed against the patient as it is acquired.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2944368"/>
            <a:ext cx="5257800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E0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8C8AB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05256" y="3145536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307592" y="3090672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uncertainty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307592" y="3383280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 carries its reliability, and what was not measured is named.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2944368"/>
            <a:ext cx="5257800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E0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8C8AB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37376" y="3145536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39712" y="3090672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reasoning support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839712" y="3383280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written assessment with its alerts, its gaps and what would clarify the case.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4242816"/>
            <a:ext cx="5257800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E0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8C8AB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05256" y="4443984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307592" y="438912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history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1307592" y="4681728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physician’s patients, examinations and images kept across visits.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4242816"/>
            <a:ext cx="5257800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E0DEF0"/>
            </a:solidFill>
            <a:prstDash val="solid"/>
          </a:ln>
          <a:effectLst>
            <a:outerShdw sx="100000" sy="100000" kx="0" ky="0" algn="bl" rotWithShape="0" blurRad="127000" dist="25400" dir="5400000">
              <a:srgbClr val="8C8AB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37376" y="4443984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39712" y="438912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6839712" y="4681728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organs and findings slot into the same contract and the same safety layer.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85800" y="5623560"/>
            <a:ext cx="10789920" cy="658368"/>
          </a:xfrm>
          <a:prstGeom prst="roundRect">
            <a:avLst>
              <a:gd name="adj" fmla="val 8333"/>
            </a:avLst>
          </a:prstGeom>
          <a:solidFill>
            <a:srgbClr val="F3F1FD"/>
          </a:solidFill>
          <a:ln w="12700">
            <a:solidFill>
              <a:srgbClr val="D9D5F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41832" y="5623560"/>
            <a:ext cx="102778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proposition is the workflow, not any single model. No individual module reaches the accuracy a standalone diagnostic tool would require.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65760"/>
            <a:ext cx="7955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and roadmap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69264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plainly — a system that hides these is not usable clinically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27632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1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1975104"/>
            <a:ext cx="5257800" cy="3200400"/>
          </a:xfrm>
          <a:prstGeom prst="roundRect">
            <a:avLst>
              <a:gd name="adj" fmla="val 1714"/>
            </a:avLst>
          </a:prstGeom>
          <a:solidFill>
            <a:srgbClr val="FDF3F2"/>
          </a:solidFill>
          <a:ln w="12700">
            <a:solidFill>
              <a:srgbClr val="F1C9C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" y="2176272"/>
            <a:ext cx="4754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datasets for several ultrasound findings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generalisation remains difficult (LV Dice 0.928 → 0.534)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Ejection fraction is a geometric proxy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Pneumothorax is not assessed at all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gallbladder model has no healthy class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prospective clinical validation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446520" y="162763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46520" y="1975104"/>
            <a:ext cx="5029200" cy="3200400"/>
          </a:xfrm>
          <a:prstGeom prst="roundRect">
            <a:avLst>
              <a:gd name="adj" fmla="val 1714"/>
            </a:avLst>
          </a:prstGeom>
          <a:solidFill>
            <a:srgbClr val="E9F7F3"/>
          </a:solidFill>
          <a:ln w="12700">
            <a:solidFill>
              <a:srgbClr val="A9E2D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702552" y="2176272"/>
            <a:ext cx="45262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and more diverse clinical datasets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and prospective validation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robustness of the ultrasound modules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with emergency physicians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organs within the same safety contract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into a real clinical workflow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5349240"/>
            <a:ext cx="10789920" cy="713232"/>
          </a:xfrm>
          <a:prstGeom prst="roundRect">
            <a:avLst>
              <a:gd name="adj" fmla="val 7692"/>
            </a:avLst>
          </a:prstGeom>
          <a:solidFill>
            <a:srgbClr val="F3F1FD"/>
          </a:solidFill>
          <a:ln w="12700">
            <a:solidFill>
              <a:srgbClr val="D9D5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41832" y="5349240"/>
            <a:ext cx="102778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2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is built to accept validated data later: versioned by content hash, retrained, evaluated against fixed criteria, and approved by a named person before any model reaches a patient.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E2A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3258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can tell you — and what it cannot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2860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2560320" y="2267712"/>
            <a:ext cx="8412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DD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the available evidence, grade urgency, read three organ systems, and state what is missing.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3649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8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cannot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2560320" y="3346704"/>
            <a:ext cx="8412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DD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a pneumothorax, confirm a normal gallbladder, or replace an echocardiographic measurement.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444398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never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4425696"/>
            <a:ext cx="8412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DD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the clinical decision. That remains yours.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85800" y="5440680"/>
            <a:ext cx="10789920" cy="603504"/>
          </a:xfrm>
          <a:prstGeom prst="roundRect">
            <a:avLst>
              <a:gd name="adj" fmla="val 9091"/>
            </a:avLst>
          </a:prstGeom>
          <a:solidFill>
            <a:srgbClr val="3A3590"/>
          </a:solidFill>
          <a:ln w="12700">
            <a:solidFill>
              <a:srgbClr val="4A45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23544" y="5440680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C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339 automated tests · 37 safety properties · 150 regression checks · 4 perception models · a working platform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619963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A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POCUS-Emergency</dc:title>
  <dc:subject>PptxGenJS Presentation</dc:subject>
  <dc:creator>Mariem Brik</dc:creator>
  <cp:lastModifiedBy>Mariem Brik</cp:lastModifiedBy>
  <cp:revision>1</cp:revision>
  <dcterms:created xsi:type="dcterms:W3CDTF">2026-09-22T15:18:41Z</dcterms:created>
  <dcterms:modified xsi:type="dcterms:W3CDTF">2026-09-22T15:18:41Z</dcterms:modified>
</cp:coreProperties>
</file>